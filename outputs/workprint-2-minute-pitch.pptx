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2fe4ad3edc4ee1" /><Relationship Type="http://schemas.openxmlformats.org/officeDocument/2006/relationships/extended-properties" Target="/docProps/app.xml" Id="R2a00e0855a654051" /><Relationship Type="http://schemas.openxmlformats.org/officeDocument/2006/relationships/officeDocument" Target="/ppt/presentation.xml" Id="Ra4929a6fc79c417f" /></Relationships>
</file>

<file path=ppt/presentation.xml><?xml version="1.0" encoding="utf-8"?>
<p:presentation xmlns:p="http://schemas.openxmlformats.org/presentationml/2006/main">
  <p:sldMasterIdLst>
    <p:sldMasterId xmlns:r="http://schemas.openxmlformats.org/officeDocument/2006/relationships" id="2147483648" r:id="R9b5966514f0544c0"/>
  </p:sldMasterIdLst>
  <p:notesMasterIdLst>
    <p:notesMasterId xmlns:r="http://schemas.openxmlformats.org/officeDocument/2006/relationships" r:id="R658372258f814d86"/>
  </p:notesMasterIdLst>
  <p:sldIdLst>
    <p:sldId xmlns:r="http://schemas.openxmlformats.org/officeDocument/2006/relationships" id="256" r:id="R2f8b059d289d450e"/>
    <p:sldId xmlns:r="http://schemas.openxmlformats.org/officeDocument/2006/relationships" id="257" r:id="Ra5378a2da85a4166"/>
    <p:sldId xmlns:r="http://schemas.openxmlformats.org/officeDocument/2006/relationships" id="258" r:id="R35577e026e1149ec"/>
    <p:sldId xmlns:r="http://schemas.openxmlformats.org/officeDocument/2006/relationships" id="259" r:id="R9fcb0b4e606a4261"/>
    <p:sldId xmlns:r="http://schemas.openxmlformats.org/officeDocument/2006/relationships" id="260" r:id="Rb602e7122108403c"/>
    <p:sldId xmlns:r="http://schemas.openxmlformats.org/officeDocument/2006/relationships" id="261" r:id="R484ccd1e71a14e8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f9a75c1c674bac" /><Relationship Type="http://schemas.openxmlformats.org/officeDocument/2006/relationships/slideMaster" Target="/ppt/slideMasters/slideMaster1.xml" Id="R9b5966514f0544c0" /><Relationship Type="http://schemas.openxmlformats.org/officeDocument/2006/relationships/notesMaster" Target="/ppt/notesMasters/notesMaster1.xml" Id="R658372258f814d86" /><Relationship Type="http://schemas.openxmlformats.org/officeDocument/2006/relationships/presProps" Target="/ppt/presProps.xml" Id="Rfa846ac837af4ea4" /><Relationship Type="http://schemas.openxmlformats.org/officeDocument/2006/relationships/tableStyles" Target="/ppt/tableStyles.xml" Id="R7b2509911ff24be6" /><Relationship Type="http://schemas.openxmlformats.org/officeDocument/2006/relationships/slide" Target="/ppt/slides/slide1.xml" Id="R2f8b059d289d450e" /><Relationship Type="http://schemas.openxmlformats.org/officeDocument/2006/relationships/slide" Target="/ppt/slides/slide2.xml" Id="Ra5378a2da85a4166" /><Relationship Type="http://schemas.openxmlformats.org/officeDocument/2006/relationships/slide" Target="/ppt/slides/slide3.xml" Id="R35577e026e1149ec" /><Relationship Type="http://schemas.openxmlformats.org/officeDocument/2006/relationships/slide" Target="/ppt/slides/slide4.xml" Id="R9fcb0b4e606a4261" /><Relationship Type="http://schemas.openxmlformats.org/officeDocument/2006/relationships/slide" Target="/ppt/slides/slide5.xml" Id="Rb602e7122108403c" /><Relationship Type="http://schemas.openxmlformats.org/officeDocument/2006/relationships/slide" Target="/ppt/slides/slide6.xml" Id="R484ccd1e71a14e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fa59718de440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d118cdffd74c9d" /><Relationship Type="http://schemas.openxmlformats.org/officeDocument/2006/relationships/notesMaster" Target="/ppt/notesMasters/notesMaster1.xml" Id="R736fb11593d444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aeb83625eb4da1" /><Relationship Type="http://schemas.openxmlformats.org/officeDocument/2006/relationships/notesMaster" Target="/ppt/notesMasters/notesMaster1.xml" Id="Rdada177f8a2844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76010783f14697" /><Relationship Type="http://schemas.openxmlformats.org/officeDocument/2006/relationships/notesMaster" Target="/ppt/notesMasters/notesMaster1.xml" Id="R8001f818129249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36e419ee1a41c7" /><Relationship Type="http://schemas.openxmlformats.org/officeDocument/2006/relationships/notesMaster" Target="/ppt/notesMasters/notesMaster1.xml" Id="R0c154a62c6644f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5f4a4daeff4c31" /><Relationship Type="http://schemas.openxmlformats.org/officeDocument/2006/relationships/notesMaster" Target="/ppt/notesMasters/notesMaster1.xml" Id="Rd32c06461e7c44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ccccde845b4b12" /><Relationship Type="http://schemas.openxmlformats.org/officeDocument/2006/relationships/notesMaster" Target="/ppt/notesMasters/notesMaster1.xml" Id="Re776b2295d1a4b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is making software easier to build than ever. But that changes what is scarce. When anyone can build, attention is the bottleneck.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early-stage founders, indie hackers and ambitious students, building in public means feedback before launch, trust before purchase, proof before credentials, and relationships before they need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But it becomes another job: decide what matters, find the story, write the post, and do it again tomorrow while you are trying to ship the actual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we asked: what if every developer had a communications team? This is Workprint: your AI communications team for building in public.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Workprint looks at GitHub history, Codex sessions and project progress. It finds a moment worth sharing. Instead of ‘we added browser automation,’ it finds the real story: AI assistants look intelligent until you ask them to complete an ordinary, messy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Workprint does not manufacture content or pretend to be your voice. It handles the archaeology and first draft. You bring the judgment. Builders should not have to choose between building their product and building the audience that will make it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f9953a173449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7a06ad16bc47ba" /><Relationship Type="http://schemas.openxmlformats.org/officeDocument/2006/relationships/slideLayout" Target="/ppt/slideLayouts/slideLayout1.xml" Id="R6739bd652ac043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39bd652ac043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80f8b7623f406d" /><Relationship Type="http://schemas.openxmlformats.org/officeDocument/2006/relationships/notesSlide" Target="/ppt/notesSlides/notesSlide1.xml" Id="R0cd35630d2b445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8bfcfdb0c8e4ae5" /><Relationship Type="http://schemas.openxmlformats.org/officeDocument/2006/relationships/notesSlide" Target="/ppt/notesSlides/notesSlide2.xml" Id="Rc1b4253980114c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423b608d89947c8" /><Relationship Type="http://schemas.openxmlformats.org/officeDocument/2006/relationships/notesSlide" Target="/ppt/notesSlides/notesSlide3.xml" Id="Rac50b503041b45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10045c21e24f23" /><Relationship Type="http://schemas.openxmlformats.org/officeDocument/2006/relationships/notesSlide" Target="/ppt/notesSlides/notesSlide4.xml" Id="R58257bfa5a5e49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52f67678e743e7" /><Relationship Type="http://schemas.openxmlformats.org/officeDocument/2006/relationships/image" Target="/ppt/media/image.jpeg" Id="Rb31826b86ef2455b" /><Relationship Type="http://schemas.openxmlformats.org/officeDocument/2006/relationships/notesSlide" Target="/ppt/notesSlides/notesSlide5.xml" Id="R9dd5903876e644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e456680d594e06" /><Relationship Type="http://schemas.openxmlformats.org/officeDocument/2006/relationships/notesSlide" Target="/ppt/notesSlides/notesSlide6.xml" Id="R13110f7cf5d947df" /></Relationships>
</file>

<file path=ppt/slides/slide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204BB2-4556-4AAC-819E-C7632EED0683}"/>
              </a:ext>
            </a:extLst>
          </p:cNvPr>
          <p:cNvSpPr>
            <a:spLocks xmlns:a="http://schemas.openxmlformats.org/drawingml/2006/main" noGrp="1"/>
          </p:cNvSpPr>
          <p:nvPr/>
        </p:nvSpPr>
        <p:spPr>
          <a:xfrm xmlns:a="http://schemas.openxmlformats.org/drawingml/2006/main">
            <a:off x="609600" y="400050"/>
            <a:ext cx="266700" cy="2667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62758C62-A4F0-4146-91F6-E80373E87710}"/>
              </a:ext>
            </a:extLst>
          </p:cNvPr>
          <p:cNvSpPr>
            <a:spLocks xmlns:a="http://schemas.openxmlformats.org/drawingml/2006/main" noGrp="1"/>
          </p:cNvSpPr>
          <p:nvPr/>
        </p:nvSpPr>
        <p:spPr>
          <a:xfrm xmlns:a="http://schemas.openxmlformats.org/drawingml/2006/main">
            <a:off x="609600" y="42862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101010"/>
                </a:solidFill>
              </a:defRPr>
            </a:pPr>
            <a:r>
              <a:rPr sz="975" b="1">
                <a:solidFill>
                  <a:srgbClr val="101010"/>
                </a:solidFill>
              </a:rPr>
              <a:t>W</a:t>
            </a:r>
          </a:p>
        </p:txBody>
      </p:sp>
      <p:sp>
        <p:nvSpPr>
          <p:cNvPr id="3" name="">
            <a:extLst xmlns:a="http://schemas.openxmlformats.org/drawingml/2006/main">
              <a:ext uri="{FF2B5EF4-FFF2-40B4-BE49-F238E27FC236}">
                <a16:creationId xmlns:a16="http://schemas.microsoft.com/office/drawing/2014/main" id="{31FFE410-CBA7-4A5C-B48C-9EC4B554BCEE}"/>
              </a:ext>
            </a:extLst>
          </p:cNvPr>
          <p:cNvSpPr>
            <a:spLocks xmlns:a="http://schemas.openxmlformats.org/drawingml/2006/main" noGrp="1"/>
          </p:cNvSpPr>
          <p:nvPr/>
        </p:nvSpPr>
        <p:spPr>
          <a:xfrm xmlns:a="http://schemas.openxmlformats.org/drawingml/2006/main">
            <a:off x="990600" y="4095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7F5F0"/>
                </a:solidFill>
              </a:defRPr>
            </a:pPr>
            <a:r>
              <a:rPr sz="1350" b="1">
                <a:solidFill>
                  <a:srgbClr val="F7F5F0"/>
                </a:solidFill>
              </a:rPr>
              <a:t>Workprint</a:t>
            </a:r>
          </a:p>
        </p:txBody>
      </p:sp>
      <p:sp>
        <p:nvSpPr>
          <p:cNvPr id="4" name="">
            <a:extLst xmlns:a="http://schemas.openxmlformats.org/drawingml/2006/main">
              <a:ext uri="{FF2B5EF4-FFF2-40B4-BE49-F238E27FC236}">
                <a16:creationId xmlns:a16="http://schemas.microsoft.com/office/drawing/2014/main" id="{6EC3D9C3-DB69-4CF5-9784-343445FD4D1E}"/>
              </a:ext>
            </a:extLst>
          </p:cNvPr>
          <p:cNvSpPr>
            <a:spLocks xmlns:a="http://schemas.openxmlformats.org/drawingml/2006/main" noGrp="1"/>
          </p:cNvSpPr>
          <p:nvPr/>
        </p:nvSpPr>
        <p:spPr>
          <a:xfrm xmlns:a="http://schemas.openxmlformats.org/drawingml/2006/main">
            <a:off x="647700" y="1619250"/>
            <a:ext cx="9525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250" b="1">
                <a:solidFill>
                  <a:srgbClr val="F7F5F0"/>
                </a:solidFill>
              </a:defRPr>
            </a:pPr>
            <a:r>
              <a:rPr sz="5250" b="1">
                <a:solidFill>
                  <a:srgbClr val="F7F5F0"/>
                </a:solidFill>
              </a:rPr>
              <a:t>Building is becoming</a:t>
            </a:r>
          </a:p>
          <a:p xmlns:a="http://schemas.openxmlformats.org/drawingml/2006/main">
            <a:pPr algn="l">
              <a:defRPr sz="5250" b="1">
                <a:solidFill>
                  <a:srgbClr val="F7F5F0"/>
                </a:solidFill>
              </a:defRPr>
            </a:pPr>
            <a:r>
              <a:rPr sz="5250" b="1">
                <a:solidFill>
                  <a:srgbClr val="F7F5F0"/>
                </a:solidFill>
              </a:rPr>
              <a:t>abundant.</a:t>
            </a:r>
          </a:p>
        </p:txBody>
      </p:sp>
      <p:sp>
        <p:nvSpPr>
          <p:cNvPr id="5" name="">
            <a:extLst xmlns:a="http://schemas.openxmlformats.org/drawingml/2006/main">
              <a:ext uri="{FF2B5EF4-FFF2-40B4-BE49-F238E27FC236}">
                <a16:creationId xmlns:a16="http://schemas.microsoft.com/office/drawing/2014/main" id="{80494F39-74B1-4606-9542-5D378BFAA1D7}"/>
              </a:ext>
            </a:extLst>
          </p:cNvPr>
          <p:cNvSpPr>
            <a:spLocks xmlns:a="http://schemas.openxmlformats.org/drawingml/2006/main" noGrp="1"/>
          </p:cNvSpPr>
          <p:nvPr/>
        </p:nvSpPr>
        <p:spPr>
          <a:xfrm xmlns:a="http://schemas.openxmlformats.org/drawingml/2006/main">
            <a:off x="647700" y="3429000"/>
            <a:ext cx="666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250" b="1">
                <a:solidFill>
                  <a:srgbClr val="D7FF38"/>
                </a:solidFill>
              </a:defRPr>
            </a:pPr>
            <a:r>
              <a:rPr sz="5250" b="1">
                <a:solidFill>
                  <a:srgbClr val="D7FF38"/>
                </a:solidFill>
              </a:rPr>
              <a:t>Attention is not.</a:t>
            </a:r>
          </a:p>
        </p:txBody>
      </p:sp>
      <p:sp>
        <p:nvSpPr>
          <p:cNvPr id="6" name="">
            <a:extLst xmlns:a="http://schemas.openxmlformats.org/drawingml/2006/main">
              <a:ext uri="{FF2B5EF4-FFF2-40B4-BE49-F238E27FC236}">
                <a16:creationId xmlns:a16="http://schemas.microsoft.com/office/drawing/2014/main" id="{139E8597-B307-47E5-A20E-0A607D46CD13}"/>
              </a:ext>
            </a:extLst>
          </p:cNvPr>
          <p:cNvSpPr>
            <a:spLocks xmlns:a="http://schemas.openxmlformats.org/drawingml/2006/main" noGrp="1"/>
          </p:cNvSpPr>
          <p:nvPr/>
        </p:nvSpPr>
        <p:spPr>
          <a:xfrm xmlns:a="http://schemas.openxmlformats.org/drawingml/2006/main">
            <a:off x="647700" y="615315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A9A9A4"/>
                </a:solidFill>
              </a:defRPr>
            </a:pPr>
            <a:r>
              <a:rPr sz="1050" b="1">
                <a:solidFill>
                  <a:srgbClr val="A9A9A4"/>
                </a:solidFill>
              </a:rPr>
              <a:t>OPENAI BUILD WEEK  ·  HYDERABAD</a:t>
            </a:r>
          </a:p>
        </p:txBody>
      </p:sp>
      <p:sp>
        <p:nvSpPr>
          <p:cNvPr id="7" name="">
            <a:extLst xmlns:a="http://schemas.openxmlformats.org/drawingml/2006/main">
              <a:ext uri="{FF2B5EF4-FFF2-40B4-BE49-F238E27FC236}">
                <a16:creationId xmlns:a16="http://schemas.microsoft.com/office/drawing/2014/main" id="{7A893744-411F-41BE-9D26-099C71A1CD49}"/>
              </a:ext>
            </a:extLst>
          </p:cNvPr>
          <p:cNvSpPr>
            <a:spLocks xmlns:a="http://schemas.openxmlformats.org/drawingml/2006/main" noGrp="1"/>
          </p:cNvSpPr>
          <p:nvPr/>
        </p:nvSpPr>
        <p:spPr>
          <a:xfrm xmlns:a="http://schemas.openxmlformats.org/drawingml/2006/main">
            <a:off x="10782300" y="5753100"/>
            <a:ext cx="800100" cy="800100"/>
          </a:xfrm>
          <a:prstGeom xmlns:a="http://schemas.openxmlformats.org/drawingml/2006/main" prst="roundRect">
            <a:avLst>
              <a:gd name="adj" fmla="val 50000"/>
            </a:avLst>
          </a:prstGeom>
          <a:solidFill xmlns:a="http://schemas.openxmlformats.org/drawingml/2006/main">
            <a:srgbClr val="D7FF38"/>
          </a:solidFill>
          <a:ln xmlns:a="http://schemas.openxmlformats.org/drawingml/2006/main" w="0">
            <a:solidFill>
              <a:srgbClr val="D7FF38"/>
            </a:solidFill>
            <a:prstDash val="solid"/>
          </a:ln>
        </p:spPr>
      </p:sp>
    </p:spTree>
    <p:extLst>
      <p:ext uri="{BB962C8B-B14F-4D97-AF65-F5344CB8AC3E}">
        <p14:creationId xmlns:p14="http://schemas.microsoft.com/office/powerpoint/2010/main" val="1584280008"/>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FEA8780-B467-43A1-B157-289004368C6F}"/>
              </a:ext>
            </a:extLst>
          </p:cNvPr>
          <p:cNvSpPr>
            <a:spLocks xmlns:a="http://schemas.openxmlformats.org/drawingml/2006/main" noGrp="1"/>
          </p:cNvSpPr>
          <p:nvPr/>
        </p:nvSpPr>
        <p:spPr>
          <a:xfrm xmlns:a="http://schemas.openxmlformats.org/drawingml/2006/main">
            <a:off x="609600" y="400050"/>
            <a:ext cx="266700" cy="266700"/>
          </a:xfrm>
          <a:prstGeom xmlns:a="http://schemas.openxmlformats.org/drawingml/2006/main" prst="roundRect">
            <a:avLst>
              <a:gd name="adj" fmla="val 25000"/>
            </a:avLst>
          </a:prstGeom>
          <a:solidFill xmlns:a="http://schemas.openxmlformats.org/drawingml/2006/main">
            <a:srgbClr val="101010"/>
          </a:solidFill>
          <a:ln xmlns:a="http://schemas.openxmlformats.org/drawingml/2006/main" w="0">
            <a:solidFill>
              <a:srgbClr val="101010"/>
            </a:solidFill>
            <a:prstDash val="solid"/>
          </a:ln>
        </p:spPr>
      </p:sp>
      <p:sp>
        <p:nvSpPr>
          <p:cNvPr id="2" name="">
            <a:extLst xmlns:a="http://schemas.openxmlformats.org/drawingml/2006/main">
              <a:ext uri="{FF2B5EF4-FFF2-40B4-BE49-F238E27FC236}">
                <a16:creationId xmlns:a16="http://schemas.microsoft.com/office/drawing/2014/main" id="{AE29B6DB-8DFB-4636-BE70-05BFF1675076}"/>
              </a:ext>
            </a:extLst>
          </p:cNvPr>
          <p:cNvSpPr>
            <a:spLocks xmlns:a="http://schemas.openxmlformats.org/drawingml/2006/main" noGrp="1"/>
          </p:cNvSpPr>
          <p:nvPr/>
        </p:nvSpPr>
        <p:spPr>
          <a:xfrm xmlns:a="http://schemas.openxmlformats.org/drawingml/2006/main">
            <a:off x="609600" y="42862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7F5F0"/>
                </a:solidFill>
              </a:defRPr>
            </a:pPr>
            <a:r>
              <a:rPr sz="975" b="1">
                <a:solidFill>
                  <a:srgbClr val="F7F5F0"/>
                </a:solidFill>
              </a:rPr>
              <a:t>W</a:t>
            </a:r>
          </a:p>
        </p:txBody>
      </p:sp>
      <p:sp>
        <p:nvSpPr>
          <p:cNvPr id="3" name="">
            <a:extLst xmlns:a="http://schemas.openxmlformats.org/drawingml/2006/main">
              <a:ext uri="{FF2B5EF4-FFF2-40B4-BE49-F238E27FC236}">
                <a16:creationId xmlns:a16="http://schemas.microsoft.com/office/drawing/2014/main" id="{5A6E42BC-2D2F-4DB2-969C-15436E99AE89}"/>
              </a:ext>
            </a:extLst>
          </p:cNvPr>
          <p:cNvSpPr>
            <a:spLocks xmlns:a="http://schemas.openxmlformats.org/drawingml/2006/main" noGrp="1"/>
          </p:cNvSpPr>
          <p:nvPr/>
        </p:nvSpPr>
        <p:spPr>
          <a:xfrm xmlns:a="http://schemas.openxmlformats.org/drawingml/2006/main">
            <a:off x="990600" y="4095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01010"/>
                </a:solidFill>
              </a:defRPr>
            </a:pPr>
            <a:r>
              <a:rPr sz="1350" b="1">
                <a:solidFill>
                  <a:srgbClr val="101010"/>
                </a:solidFill>
              </a:rPr>
              <a:t>Workprint</a:t>
            </a:r>
          </a:p>
        </p:txBody>
      </p:sp>
      <p:sp>
        <p:nvSpPr>
          <p:cNvPr id="4" name="">
            <a:extLst xmlns:a="http://schemas.openxmlformats.org/drawingml/2006/main">
              <a:ext uri="{FF2B5EF4-FFF2-40B4-BE49-F238E27FC236}">
                <a16:creationId xmlns:a16="http://schemas.microsoft.com/office/drawing/2014/main" id="{FF1A9AF0-6AE6-4142-A900-0069321F4A11}"/>
              </a:ext>
            </a:extLst>
          </p:cNvPr>
          <p:cNvSpPr>
            <a:spLocks xmlns:a="http://schemas.openxmlformats.org/drawingml/2006/main" noGrp="1"/>
          </p:cNvSpPr>
          <p:nvPr/>
        </p:nvSpPr>
        <p:spPr>
          <a:xfrm xmlns:a="http://schemas.openxmlformats.org/drawingml/2006/main">
            <a:off x="647700" y="1181100"/>
            <a:ext cx="857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125" b="1">
                <a:solidFill>
                  <a:srgbClr val="101010"/>
                </a:solidFill>
              </a:defRPr>
            </a:pPr>
            <a:r>
              <a:rPr sz="4125" b="1">
                <a:solidFill>
                  <a:srgbClr val="101010"/>
                </a:solidFill>
              </a:rPr>
              <a:t>For builders before they</a:t>
            </a:r>
          </a:p>
          <a:p xmlns:a="http://schemas.openxmlformats.org/drawingml/2006/main">
            <a:pPr algn="l">
              <a:defRPr sz="4125" b="1">
                <a:solidFill>
                  <a:srgbClr val="101010"/>
                </a:solidFill>
              </a:defRPr>
            </a:pPr>
            <a:r>
              <a:rPr sz="4125" b="1">
                <a:solidFill>
                  <a:srgbClr val="101010"/>
                </a:solidFill>
              </a:rPr>
              <a:t>are known, visibility matters.</a:t>
            </a:r>
          </a:p>
        </p:txBody>
      </p:sp>
      <p:sp>
        <p:nvSpPr>
          <p:cNvPr id="5" name="">
            <a:extLst xmlns:a="http://schemas.openxmlformats.org/drawingml/2006/main">
              <a:ext uri="{FF2B5EF4-FFF2-40B4-BE49-F238E27FC236}">
                <a16:creationId xmlns:a16="http://schemas.microsoft.com/office/drawing/2014/main" id="{D7D26328-7B91-449C-A7D6-D997F6466426}"/>
              </a:ext>
            </a:extLst>
          </p:cNvPr>
          <p:cNvSpPr>
            <a:spLocks xmlns:a="http://schemas.openxmlformats.org/drawingml/2006/main" noGrp="1"/>
          </p:cNvSpPr>
          <p:nvPr/>
        </p:nvSpPr>
        <p:spPr>
          <a:xfrm xmlns:a="http://schemas.openxmlformats.org/drawingml/2006/main">
            <a:off x="647700" y="2990850"/>
            <a:ext cx="10896600" cy="19050"/>
          </a:xfrm>
          <a:prstGeom xmlns:a="http://schemas.openxmlformats.org/drawingml/2006/main" prst="rect">
            <a:avLst/>
          </a:prstGeom>
          <a:solidFill xmlns:a="http://schemas.openxmlformats.org/drawingml/2006/main">
            <a:srgbClr val="101010"/>
          </a:solidFill>
          <a:ln xmlns:a="http://schemas.openxmlformats.org/drawingml/2006/main" w="0">
            <a:solidFill>
              <a:srgbClr val="101010"/>
            </a:solidFill>
            <a:prstDash val="solid"/>
          </a:ln>
        </p:spPr>
      </p:sp>
      <p:sp>
        <p:nvSpPr>
          <p:cNvPr id="6" name="">
            <a:extLst xmlns:a="http://schemas.openxmlformats.org/drawingml/2006/main">
              <a:ext uri="{FF2B5EF4-FFF2-40B4-BE49-F238E27FC236}">
                <a16:creationId xmlns:a16="http://schemas.microsoft.com/office/drawing/2014/main" id="{A9E5D5DB-6F36-4773-AA1A-9D8CA9FE3E19}"/>
              </a:ext>
            </a:extLst>
          </p:cNvPr>
          <p:cNvSpPr>
            <a:spLocks xmlns:a="http://schemas.openxmlformats.org/drawingml/2006/main" noGrp="1"/>
          </p:cNvSpPr>
          <p:nvPr/>
        </p:nvSpPr>
        <p:spPr>
          <a:xfrm xmlns:a="http://schemas.openxmlformats.org/drawingml/2006/main">
            <a:off x="647700" y="34480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77746D"/>
                </a:solidFill>
              </a:defRPr>
            </a:pPr>
            <a:r>
              <a:rPr sz="1050" b="1">
                <a:solidFill>
                  <a:srgbClr val="77746D"/>
                </a:solidFill>
              </a:rPr>
              <a:t>01</a:t>
            </a:r>
          </a:p>
        </p:txBody>
      </p:sp>
      <p:sp>
        <p:nvSpPr>
          <p:cNvPr id="7" name="">
            <a:extLst xmlns:a="http://schemas.openxmlformats.org/drawingml/2006/main">
              <a:ext uri="{FF2B5EF4-FFF2-40B4-BE49-F238E27FC236}">
                <a16:creationId xmlns:a16="http://schemas.microsoft.com/office/drawing/2014/main" id="{63E28FD9-2281-44B2-A458-F22E551D0B67}"/>
              </a:ext>
            </a:extLst>
          </p:cNvPr>
          <p:cNvSpPr>
            <a:spLocks xmlns:a="http://schemas.openxmlformats.org/drawingml/2006/main" noGrp="1"/>
          </p:cNvSpPr>
          <p:nvPr/>
        </p:nvSpPr>
        <p:spPr>
          <a:xfrm xmlns:a="http://schemas.openxmlformats.org/drawingml/2006/main">
            <a:off x="647700" y="3838575"/>
            <a:ext cx="2238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01010"/>
                </a:solidFill>
              </a:defRPr>
            </a:pPr>
            <a:r>
              <a:rPr sz="2100" b="1">
                <a:solidFill>
                  <a:srgbClr val="101010"/>
                </a:solidFill>
              </a:rPr>
              <a:t>Feedback</a:t>
            </a:r>
          </a:p>
          <a:p xmlns:a="http://schemas.openxmlformats.org/drawingml/2006/main">
            <a:pPr algn="l">
              <a:defRPr sz="2100" b="1">
                <a:solidFill>
                  <a:srgbClr val="101010"/>
                </a:solidFill>
              </a:defRPr>
            </a:pPr>
            <a:r>
              <a:rPr sz="2100" b="1">
                <a:solidFill>
                  <a:srgbClr val="101010"/>
                </a:solidFill>
              </a:rPr>
              <a:t>before launch.</a:t>
            </a:r>
          </a:p>
        </p:txBody>
      </p:sp>
      <p:sp>
        <p:nvSpPr>
          <p:cNvPr id="8" name="">
            <a:extLst xmlns:a="http://schemas.openxmlformats.org/drawingml/2006/main">
              <a:ext uri="{FF2B5EF4-FFF2-40B4-BE49-F238E27FC236}">
                <a16:creationId xmlns:a16="http://schemas.microsoft.com/office/drawing/2014/main" id="{CBAB696D-6300-4809-97B7-47224A996742}"/>
              </a:ext>
            </a:extLst>
          </p:cNvPr>
          <p:cNvSpPr>
            <a:spLocks xmlns:a="http://schemas.openxmlformats.org/drawingml/2006/main" noGrp="1"/>
          </p:cNvSpPr>
          <p:nvPr/>
        </p:nvSpPr>
        <p:spPr>
          <a:xfrm xmlns:a="http://schemas.openxmlformats.org/drawingml/2006/main">
            <a:off x="3371850" y="34480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77746D"/>
                </a:solidFill>
              </a:defRPr>
            </a:pPr>
            <a:r>
              <a:rPr sz="1050" b="1">
                <a:solidFill>
                  <a:srgbClr val="77746D"/>
                </a:solidFill>
              </a:rPr>
              <a:t>02</a:t>
            </a:r>
          </a:p>
        </p:txBody>
      </p:sp>
      <p:sp>
        <p:nvSpPr>
          <p:cNvPr id="9" name="">
            <a:extLst xmlns:a="http://schemas.openxmlformats.org/drawingml/2006/main">
              <a:ext uri="{FF2B5EF4-FFF2-40B4-BE49-F238E27FC236}">
                <a16:creationId xmlns:a16="http://schemas.microsoft.com/office/drawing/2014/main" id="{96D0B41E-ED60-4F1D-A2CA-1156B667039B}"/>
              </a:ext>
            </a:extLst>
          </p:cNvPr>
          <p:cNvSpPr>
            <a:spLocks xmlns:a="http://schemas.openxmlformats.org/drawingml/2006/main" noGrp="1"/>
          </p:cNvSpPr>
          <p:nvPr/>
        </p:nvSpPr>
        <p:spPr>
          <a:xfrm xmlns:a="http://schemas.openxmlformats.org/drawingml/2006/main">
            <a:off x="3371850" y="3838575"/>
            <a:ext cx="2238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01010"/>
                </a:solidFill>
              </a:defRPr>
            </a:pPr>
            <a:r>
              <a:rPr sz="2100" b="1">
                <a:solidFill>
                  <a:srgbClr val="101010"/>
                </a:solidFill>
              </a:rPr>
              <a:t>Trust</a:t>
            </a:r>
          </a:p>
          <a:p xmlns:a="http://schemas.openxmlformats.org/drawingml/2006/main">
            <a:pPr algn="l">
              <a:defRPr sz="2100" b="1">
                <a:solidFill>
                  <a:srgbClr val="101010"/>
                </a:solidFill>
              </a:defRPr>
            </a:pPr>
            <a:r>
              <a:rPr sz="2100" b="1">
                <a:solidFill>
                  <a:srgbClr val="101010"/>
                </a:solidFill>
              </a:rPr>
              <a:t>before purchase.</a:t>
            </a:r>
          </a:p>
        </p:txBody>
      </p:sp>
      <p:sp>
        <p:nvSpPr>
          <p:cNvPr id="10" name="">
            <a:extLst xmlns:a="http://schemas.openxmlformats.org/drawingml/2006/main">
              <a:ext uri="{FF2B5EF4-FFF2-40B4-BE49-F238E27FC236}">
                <a16:creationId xmlns:a16="http://schemas.microsoft.com/office/drawing/2014/main" id="{4F528A1C-ABD8-4656-BBA4-AACC310B84F1}"/>
              </a:ext>
            </a:extLst>
          </p:cNvPr>
          <p:cNvSpPr>
            <a:spLocks xmlns:a="http://schemas.openxmlformats.org/drawingml/2006/main" noGrp="1"/>
          </p:cNvSpPr>
          <p:nvPr/>
        </p:nvSpPr>
        <p:spPr>
          <a:xfrm xmlns:a="http://schemas.openxmlformats.org/drawingml/2006/main">
            <a:off x="6096000" y="34480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77746D"/>
                </a:solidFill>
              </a:defRPr>
            </a:pPr>
            <a:r>
              <a:rPr sz="1050" b="1">
                <a:solidFill>
                  <a:srgbClr val="77746D"/>
                </a:solidFill>
              </a:rPr>
              <a:t>03</a:t>
            </a:r>
          </a:p>
        </p:txBody>
      </p:sp>
      <p:sp>
        <p:nvSpPr>
          <p:cNvPr id="11" name="">
            <a:extLst xmlns:a="http://schemas.openxmlformats.org/drawingml/2006/main">
              <a:ext uri="{FF2B5EF4-FFF2-40B4-BE49-F238E27FC236}">
                <a16:creationId xmlns:a16="http://schemas.microsoft.com/office/drawing/2014/main" id="{594B6DAF-2741-4E6B-859D-42134F7E8272}"/>
              </a:ext>
            </a:extLst>
          </p:cNvPr>
          <p:cNvSpPr>
            <a:spLocks xmlns:a="http://schemas.openxmlformats.org/drawingml/2006/main" noGrp="1"/>
          </p:cNvSpPr>
          <p:nvPr/>
        </p:nvSpPr>
        <p:spPr>
          <a:xfrm xmlns:a="http://schemas.openxmlformats.org/drawingml/2006/main">
            <a:off x="6096000" y="3838575"/>
            <a:ext cx="2238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01010"/>
                </a:solidFill>
              </a:defRPr>
            </a:pPr>
            <a:r>
              <a:rPr sz="2100" b="1">
                <a:solidFill>
                  <a:srgbClr val="101010"/>
                </a:solidFill>
              </a:rPr>
              <a:t>Proof</a:t>
            </a:r>
          </a:p>
          <a:p xmlns:a="http://schemas.openxmlformats.org/drawingml/2006/main">
            <a:pPr algn="l">
              <a:defRPr sz="2100" b="1">
                <a:solidFill>
                  <a:srgbClr val="101010"/>
                </a:solidFill>
              </a:defRPr>
            </a:pPr>
            <a:r>
              <a:rPr sz="2100" b="1">
                <a:solidFill>
                  <a:srgbClr val="101010"/>
                </a:solidFill>
              </a:rPr>
              <a:t>before credentials.</a:t>
            </a:r>
          </a:p>
        </p:txBody>
      </p:sp>
      <p:sp>
        <p:nvSpPr>
          <p:cNvPr id="12" name="">
            <a:extLst xmlns:a="http://schemas.openxmlformats.org/drawingml/2006/main">
              <a:ext uri="{FF2B5EF4-FFF2-40B4-BE49-F238E27FC236}">
                <a16:creationId xmlns:a16="http://schemas.microsoft.com/office/drawing/2014/main" id="{3F1E28E3-7531-4C2A-B725-23266D6A6C7F}"/>
              </a:ext>
            </a:extLst>
          </p:cNvPr>
          <p:cNvSpPr>
            <a:spLocks xmlns:a="http://schemas.openxmlformats.org/drawingml/2006/main" noGrp="1"/>
          </p:cNvSpPr>
          <p:nvPr/>
        </p:nvSpPr>
        <p:spPr>
          <a:xfrm xmlns:a="http://schemas.openxmlformats.org/drawingml/2006/main">
            <a:off x="8820150" y="34480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77746D"/>
                </a:solidFill>
              </a:defRPr>
            </a:pPr>
            <a:r>
              <a:rPr sz="1050" b="1">
                <a:solidFill>
                  <a:srgbClr val="77746D"/>
                </a:solidFill>
              </a:rPr>
              <a:t>04</a:t>
            </a:r>
          </a:p>
        </p:txBody>
      </p:sp>
      <p:sp>
        <p:nvSpPr>
          <p:cNvPr id="13" name="">
            <a:extLst xmlns:a="http://schemas.openxmlformats.org/drawingml/2006/main">
              <a:ext uri="{FF2B5EF4-FFF2-40B4-BE49-F238E27FC236}">
                <a16:creationId xmlns:a16="http://schemas.microsoft.com/office/drawing/2014/main" id="{7620DBAE-1432-4D65-B85D-C31A03A86A2C}"/>
              </a:ext>
            </a:extLst>
          </p:cNvPr>
          <p:cNvSpPr>
            <a:spLocks xmlns:a="http://schemas.openxmlformats.org/drawingml/2006/main" noGrp="1"/>
          </p:cNvSpPr>
          <p:nvPr/>
        </p:nvSpPr>
        <p:spPr>
          <a:xfrm xmlns:a="http://schemas.openxmlformats.org/drawingml/2006/main">
            <a:off x="8820150" y="3838575"/>
            <a:ext cx="2238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01010"/>
                </a:solidFill>
              </a:defRPr>
            </a:pPr>
            <a:r>
              <a:rPr sz="2100" b="1">
                <a:solidFill>
                  <a:srgbClr val="101010"/>
                </a:solidFill>
              </a:rPr>
              <a:t>Relationships</a:t>
            </a:r>
          </a:p>
          <a:p xmlns:a="http://schemas.openxmlformats.org/drawingml/2006/main">
            <a:pPr algn="l">
              <a:defRPr sz="2100" b="1">
                <a:solidFill>
                  <a:srgbClr val="101010"/>
                </a:solidFill>
              </a:defRPr>
            </a:pPr>
            <a:r>
              <a:rPr sz="2100" b="1">
                <a:solidFill>
                  <a:srgbClr val="101010"/>
                </a:solidFill>
              </a:rPr>
              <a:t>before they need them.</a:t>
            </a:r>
          </a:p>
        </p:txBody>
      </p:sp>
      <p:sp>
        <p:nvSpPr>
          <p:cNvPr id="14" name="">
            <a:extLst xmlns:a="http://schemas.openxmlformats.org/drawingml/2006/main">
              <a:ext uri="{FF2B5EF4-FFF2-40B4-BE49-F238E27FC236}">
                <a16:creationId xmlns:a16="http://schemas.microsoft.com/office/drawing/2014/main" id="{A9B588F8-207C-4916-A731-60C9D12AD94D}"/>
              </a:ext>
            </a:extLst>
          </p:cNvPr>
          <p:cNvSpPr>
            <a:spLocks xmlns:a="http://schemas.openxmlformats.org/drawingml/2006/main" noGrp="1"/>
          </p:cNvSpPr>
          <p:nvPr/>
        </p:nvSpPr>
        <p:spPr>
          <a:xfrm xmlns:a="http://schemas.openxmlformats.org/drawingml/2006/main">
            <a:off x="647700" y="56959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77746D"/>
                </a:solidFill>
              </a:defRPr>
            </a:pPr>
            <a:r>
              <a:rPr sz="1725" b="0">
                <a:solidFill>
                  <a:srgbClr val="77746D"/>
                </a:solidFill>
              </a:rPr>
              <a:t>Building in public lets you build the product and the audience at the same time.</a:t>
            </a:r>
          </a:p>
        </p:txBody>
      </p:sp>
    </p:spTree>
    <p:extLst>
      <p:ext uri="{BB962C8B-B14F-4D97-AF65-F5344CB8AC3E}">
        <p14:creationId xmlns:p14="http://schemas.microsoft.com/office/powerpoint/2010/main" val="1431763637"/>
      </p:ext>
    </p:extLst>
  </p:cSld>
</p:sld>
</file>

<file path=ppt/slides/slide3.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D39F039-43FF-4558-95A5-F1082F334FFC}"/>
              </a:ext>
            </a:extLst>
          </p:cNvPr>
          <p:cNvSpPr>
            <a:spLocks xmlns:a="http://schemas.openxmlformats.org/drawingml/2006/main" noGrp="1"/>
          </p:cNvSpPr>
          <p:nvPr/>
        </p:nvSpPr>
        <p:spPr>
          <a:xfrm xmlns:a="http://schemas.openxmlformats.org/drawingml/2006/main">
            <a:off x="609600" y="400050"/>
            <a:ext cx="266700" cy="2667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6B1B9CC9-53FC-41E7-9907-779317DB7934}"/>
              </a:ext>
            </a:extLst>
          </p:cNvPr>
          <p:cNvSpPr>
            <a:spLocks xmlns:a="http://schemas.openxmlformats.org/drawingml/2006/main" noGrp="1"/>
          </p:cNvSpPr>
          <p:nvPr/>
        </p:nvSpPr>
        <p:spPr>
          <a:xfrm xmlns:a="http://schemas.openxmlformats.org/drawingml/2006/main">
            <a:off x="609600" y="42862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101010"/>
                </a:solidFill>
              </a:defRPr>
            </a:pPr>
            <a:r>
              <a:rPr sz="975" b="1">
                <a:solidFill>
                  <a:srgbClr val="101010"/>
                </a:solidFill>
              </a:rPr>
              <a:t>W</a:t>
            </a:r>
          </a:p>
        </p:txBody>
      </p:sp>
      <p:sp>
        <p:nvSpPr>
          <p:cNvPr id="3" name="">
            <a:extLst xmlns:a="http://schemas.openxmlformats.org/drawingml/2006/main">
              <a:ext uri="{FF2B5EF4-FFF2-40B4-BE49-F238E27FC236}">
                <a16:creationId xmlns:a16="http://schemas.microsoft.com/office/drawing/2014/main" id="{C9730ED5-F340-4A64-AF54-1F1506FEA13A}"/>
              </a:ext>
            </a:extLst>
          </p:cNvPr>
          <p:cNvSpPr>
            <a:spLocks xmlns:a="http://schemas.openxmlformats.org/drawingml/2006/main" noGrp="1"/>
          </p:cNvSpPr>
          <p:nvPr/>
        </p:nvSpPr>
        <p:spPr>
          <a:xfrm xmlns:a="http://schemas.openxmlformats.org/drawingml/2006/main">
            <a:off x="990600" y="4095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7F5F0"/>
                </a:solidFill>
              </a:defRPr>
            </a:pPr>
            <a:r>
              <a:rPr sz="1350" b="1">
                <a:solidFill>
                  <a:srgbClr val="F7F5F0"/>
                </a:solidFill>
              </a:rPr>
              <a:t>Workprint</a:t>
            </a:r>
          </a:p>
        </p:txBody>
      </p:sp>
      <p:sp>
        <p:nvSpPr>
          <p:cNvPr id="4" name="">
            <a:extLst xmlns:a="http://schemas.openxmlformats.org/drawingml/2006/main">
              <a:ext uri="{FF2B5EF4-FFF2-40B4-BE49-F238E27FC236}">
                <a16:creationId xmlns:a16="http://schemas.microsoft.com/office/drawing/2014/main" id="{535C4049-1588-4689-8B16-73B3A7D055B1}"/>
              </a:ext>
            </a:extLst>
          </p:cNvPr>
          <p:cNvSpPr>
            <a:spLocks xmlns:a="http://schemas.openxmlformats.org/drawingml/2006/main" noGrp="1"/>
          </p:cNvSpPr>
          <p:nvPr/>
        </p:nvSpPr>
        <p:spPr>
          <a:xfrm xmlns:a="http://schemas.openxmlformats.org/drawingml/2006/main">
            <a:off x="647700" y="1190625"/>
            <a:ext cx="85725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a:solidFill>
                  <a:srgbClr val="F7F5F0"/>
                </a:solidFill>
              </a:defRPr>
            </a:pPr>
            <a:r>
              <a:rPr sz="4350" b="1">
                <a:solidFill>
                  <a:srgbClr val="F7F5F0"/>
                </a:solidFill>
              </a:rPr>
              <a:t>But building in public</a:t>
            </a:r>
          </a:p>
          <a:p xmlns:a="http://schemas.openxmlformats.org/drawingml/2006/main">
            <a:pPr algn="l">
              <a:defRPr sz="4350" b="1">
                <a:solidFill>
                  <a:srgbClr val="F7F5F0"/>
                </a:solidFill>
              </a:defRPr>
            </a:pPr>
            <a:r>
              <a:rPr sz="4350" b="1">
                <a:solidFill>
                  <a:srgbClr val="F7F5F0"/>
                </a:solidFill>
              </a:rPr>
              <a:t>becomes another job.</a:t>
            </a:r>
          </a:p>
        </p:txBody>
      </p:sp>
      <p:sp>
        <p:nvSpPr>
          <p:cNvPr id="5" name="">
            <a:extLst xmlns:a="http://schemas.openxmlformats.org/drawingml/2006/main">
              <a:ext uri="{FF2B5EF4-FFF2-40B4-BE49-F238E27FC236}">
                <a16:creationId xmlns:a16="http://schemas.microsoft.com/office/drawing/2014/main" id="{9B0CD9B9-81E3-4ECB-A30E-656908719381}"/>
              </a:ext>
            </a:extLst>
          </p:cNvPr>
          <p:cNvSpPr>
            <a:spLocks xmlns:a="http://schemas.openxmlformats.org/drawingml/2006/main" noGrp="1"/>
          </p:cNvSpPr>
          <p:nvPr/>
        </p:nvSpPr>
        <p:spPr>
          <a:xfrm xmlns:a="http://schemas.openxmlformats.org/drawingml/2006/main">
            <a:off x="971550" y="3333750"/>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0">
                <a:solidFill>
                  <a:srgbClr val="B7B7B1"/>
                </a:solidFill>
              </a:defRPr>
            </a:pPr>
            <a:r>
              <a:rPr sz="2100" b="0">
                <a:solidFill>
                  <a:srgbClr val="B7B7B1"/>
                </a:solidFill>
              </a:rPr>
              <a:t>Decide what matters.</a:t>
            </a:r>
          </a:p>
        </p:txBody>
      </p:sp>
      <p:sp>
        <p:nvSpPr>
          <p:cNvPr id="6" name="">
            <a:extLst xmlns:a="http://schemas.openxmlformats.org/drawingml/2006/main">
              <a:ext uri="{FF2B5EF4-FFF2-40B4-BE49-F238E27FC236}">
                <a16:creationId xmlns:a16="http://schemas.microsoft.com/office/drawing/2014/main" id="{9F0E62C9-55CF-499F-8341-7DEE56328A01}"/>
              </a:ext>
            </a:extLst>
          </p:cNvPr>
          <p:cNvSpPr>
            <a:spLocks xmlns:a="http://schemas.openxmlformats.org/drawingml/2006/main" noGrp="1"/>
          </p:cNvSpPr>
          <p:nvPr/>
        </p:nvSpPr>
        <p:spPr>
          <a:xfrm xmlns:a="http://schemas.openxmlformats.org/drawingml/2006/main">
            <a:off x="647700" y="3476625"/>
            <a:ext cx="171450" cy="19050"/>
          </a:xfrm>
          <a:prstGeom xmlns:a="http://schemas.openxmlformats.org/drawingml/2006/main" prst="rect">
            <a:avLst/>
          </a:prstGeom>
          <a:solidFill xmlns:a="http://schemas.openxmlformats.org/drawingml/2006/main">
            <a:srgbClr val="777773"/>
          </a:solidFill>
          <a:ln xmlns:a="http://schemas.openxmlformats.org/drawingml/2006/main" w="0">
            <a:solidFill>
              <a:srgbClr val="777773"/>
            </a:solidFill>
            <a:prstDash val="solid"/>
          </a:ln>
        </p:spPr>
      </p:sp>
      <p:sp>
        <p:nvSpPr>
          <p:cNvPr id="7" name="">
            <a:extLst xmlns:a="http://schemas.openxmlformats.org/drawingml/2006/main">
              <a:ext uri="{FF2B5EF4-FFF2-40B4-BE49-F238E27FC236}">
                <a16:creationId xmlns:a16="http://schemas.microsoft.com/office/drawing/2014/main" id="{4E9CCA77-24CD-45E9-AE6D-66700565874D}"/>
              </a:ext>
            </a:extLst>
          </p:cNvPr>
          <p:cNvSpPr>
            <a:spLocks xmlns:a="http://schemas.openxmlformats.org/drawingml/2006/main" noGrp="1"/>
          </p:cNvSpPr>
          <p:nvPr/>
        </p:nvSpPr>
        <p:spPr>
          <a:xfrm xmlns:a="http://schemas.openxmlformats.org/drawingml/2006/main">
            <a:off x="971550" y="3905250"/>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0">
                <a:solidFill>
                  <a:srgbClr val="B7B7B1"/>
                </a:solidFill>
              </a:defRPr>
            </a:pPr>
            <a:r>
              <a:rPr sz="2100" b="0">
                <a:solidFill>
                  <a:srgbClr val="B7B7B1"/>
                </a:solidFill>
              </a:rPr>
              <a:t>Find the story.</a:t>
            </a:r>
          </a:p>
        </p:txBody>
      </p:sp>
      <p:sp>
        <p:nvSpPr>
          <p:cNvPr id="8" name="">
            <a:extLst xmlns:a="http://schemas.openxmlformats.org/drawingml/2006/main">
              <a:ext uri="{FF2B5EF4-FFF2-40B4-BE49-F238E27FC236}">
                <a16:creationId xmlns:a16="http://schemas.microsoft.com/office/drawing/2014/main" id="{9FA9270D-B4D2-42CA-9F68-396C2544BB44}"/>
              </a:ext>
            </a:extLst>
          </p:cNvPr>
          <p:cNvSpPr>
            <a:spLocks xmlns:a="http://schemas.openxmlformats.org/drawingml/2006/main" noGrp="1"/>
          </p:cNvSpPr>
          <p:nvPr/>
        </p:nvSpPr>
        <p:spPr>
          <a:xfrm xmlns:a="http://schemas.openxmlformats.org/drawingml/2006/main">
            <a:off x="647700" y="4048125"/>
            <a:ext cx="171450" cy="19050"/>
          </a:xfrm>
          <a:prstGeom xmlns:a="http://schemas.openxmlformats.org/drawingml/2006/main" prst="rect">
            <a:avLst/>
          </a:prstGeom>
          <a:solidFill xmlns:a="http://schemas.openxmlformats.org/drawingml/2006/main">
            <a:srgbClr val="777773"/>
          </a:solidFill>
          <a:ln xmlns:a="http://schemas.openxmlformats.org/drawingml/2006/main" w="0">
            <a:solidFill>
              <a:srgbClr val="777773"/>
            </a:solidFill>
            <a:prstDash val="solid"/>
          </a:ln>
        </p:spPr>
      </p:sp>
      <p:sp>
        <p:nvSpPr>
          <p:cNvPr id="9" name="">
            <a:extLst xmlns:a="http://schemas.openxmlformats.org/drawingml/2006/main">
              <a:ext uri="{FF2B5EF4-FFF2-40B4-BE49-F238E27FC236}">
                <a16:creationId xmlns:a16="http://schemas.microsoft.com/office/drawing/2014/main" id="{D699C627-FD35-4FB8-917A-07537BD3934F}"/>
              </a:ext>
            </a:extLst>
          </p:cNvPr>
          <p:cNvSpPr>
            <a:spLocks xmlns:a="http://schemas.openxmlformats.org/drawingml/2006/main" noGrp="1"/>
          </p:cNvSpPr>
          <p:nvPr/>
        </p:nvSpPr>
        <p:spPr>
          <a:xfrm xmlns:a="http://schemas.openxmlformats.org/drawingml/2006/main">
            <a:off x="971550" y="4476750"/>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0">
                <a:solidFill>
                  <a:srgbClr val="B7B7B1"/>
                </a:solidFill>
              </a:defRPr>
            </a:pPr>
            <a:r>
              <a:rPr sz="2100" b="0">
                <a:solidFill>
                  <a:srgbClr val="B7B7B1"/>
                </a:solidFill>
              </a:rPr>
              <a:t>Write the post.</a:t>
            </a:r>
          </a:p>
        </p:txBody>
      </p:sp>
      <p:sp>
        <p:nvSpPr>
          <p:cNvPr id="10" name="">
            <a:extLst xmlns:a="http://schemas.openxmlformats.org/drawingml/2006/main">
              <a:ext uri="{FF2B5EF4-FFF2-40B4-BE49-F238E27FC236}">
                <a16:creationId xmlns:a16="http://schemas.microsoft.com/office/drawing/2014/main" id="{B5A55ACE-E57D-432B-9005-E81BE1EDEBFD}"/>
              </a:ext>
            </a:extLst>
          </p:cNvPr>
          <p:cNvSpPr>
            <a:spLocks xmlns:a="http://schemas.openxmlformats.org/drawingml/2006/main" noGrp="1"/>
          </p:cNvSpPr>
          <p:nvPr/>
        </p:nvSpPr>
        <p:spPr>
          <a:xfrm xmlns:a="http://schemas.openxmlformats.org/drawingml/2006/main">
            <a:off x="647700" y="4619625"/>
            <a:ext cx="171450" cy="19050"/>
          </a:xfrm>
          <a:prstGeom xmlns:a="http://schemas.openxmlformats.org/drawingml/2006/main" prst="rect">
            <a:avLst/>
          </a:prstGeom>
          <a:solidFill xmlns:a="http://schemas.openxmlformats.org/drawingml/2006/main">
            <a:srgbClr val="777773"/>
          </a:solidFill>
          <a:ln xmlns:a="http://schemas.openxmlformats.org/drawingml/2006/main" w="0">
            <a:solidFill>
              <a:srgbClr val="777773"/>
            </a:solidFill>
            <a:prstDash val="solid"/>
          </a:ln>
        </p:spPr>
      </p:sp>
      <p:sp>
        <p:nvSpPr>
          <p:cNvPr id="11" name="">
            <a:extLst xmlns:a="http://schemas.openxmlformats.org/drawingml/2006/main">
              <a:ext uri="{FF2B5EF4-FFF2-40B4-BE49-F238E27FC236}">
                <a16:creationId xmlns:a16="http://schemas.microsoft.com/office/drawing/2014/main" id="{31A50BA8-085E-4EF8-BD5E-C4573FC2B017}"/>
              </a:ext>
            </a:extLst>
          </p:cNvPr>
          <p:cNvSpPr>
            <a:spLocks xmlns:a="http://schemas.openxmlformats.org/drawingml/2006/main" noGrp="1"/>
          </p:cNvSpPr>
          <p:nvPr/>
        </p:nvSpPr>
        <p:spPr>
          <a:xfrm xmlns:a="http://schemas.openxmlformats.org/drawingml/2006/main">
            <a:off x="971550" y="5048250"/>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D7FF38"/>
                </a:solidFill>
              </a:defRPr>
            </a:pPr>
            <a:r>
              <a:rPr sz="2100" b="1">
                <a:solidFill>
                  <a:srgbClr val="D7FF38"/>
                </a:solidFill>
              </a:rPr>
              <a:t>Do it again tomorrow.</a:t>
            </a:r>
          </a:p>
        </p:txBody>
      </p:sp>
      <p:sp>
        <p:nvSpPr>
          <p:cNvPr id="12" name="">
            <a:extLst xmlns:a="http://schemas.openxmlformats.org/drawingml/2006/main">
              <a:ext uri="{FF2B5EF4-FFF2-40B4-BE49-F238E27FC236}">
                <a16:creationId xmlns:a16="http://schemas.microsoft.com/office/drawing/2014/main" id="{BBF67C0E-0ED0-4A41-BB2E-5F4D5C36B416}"/>
              </a:ext>
            </a:extLst>
          </p:cNvPr>
          <p:cNvSpPr>
            <a:spLocks xmlns:a="http://schemas.openxmlformats.org/drawingml/2006/main" noGrp="1"/>
          </p:cNvSpPr>
          <p:nvPr/>
        </p:nvSpPr>
        <p:spPr>
          <a:xfrm xmlns:a="http://schemas.openxmlformats.org/drawingml/2006/main">
            <a:off x="647700" y="5191125"/>
            <a:ext cx="171450" cy="19050"/>
          </a:xfrm>
          <a:prstGeom xmlns:a="http://schemas.openxmlformats.org/drawingml/2006/main" prst="rect">
            <a:avLst/>
          </a:prstGeom>
          <a:solidFill xmlns:a="http://schemas.openxmlformats.org/drawingml/2006/main">
            <a:srgbClr val="D7FF38"/>
          </a:solidFill>
          <a:ln xmlns:a="http://schemas.openxmlformats.org/drawingml/2006/main" w="0">
            <a:solidFill>
              <a:srgbClr val="D7FF38"/>
            </a:solidFill>
            <a:prstDash val="solid"/>
          </a:ln>
        </p:spPr>
      </p:sp>
      <p:sp>
        <p:nvSpPr>
          <p:cNvPr id="13" name="">
            <a:extLst xmlns:a="http://schemas.openxmlformats.org/drawingml/2006/main">
              <a:ext uri="{FF2B5EF4-FFF2-40B4-BE49-F238E27FC236}">
                <a16:creationId xmlns:a16="http://schemas.microsoft.com/office/drawing/2014/main" id="{D103FC18-648F-44F4-B4AE-196B10D034FA}"/>
              </a:ext>
            </a:extLst>
          </p:cNvPr>
          <p:cNvSpPr>
            <a:spLocks xmlns:a="http://schemas.openxmlformats.org/drawingml/2006/main" noGrp="1"/>
          </p:cNvSpPr>
          <p:nvPr/>
        </p:nvSpPr>
        <p:spPr>
          <a:xfrm xmlns:a="http://schemas.openxmlformats.org/drawingml/2006/main">
            <a:off x="7486650" y="48577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F7F5F0"/>
                </a:solidFill>
              </a:defRPr>
            </a:pPr>
            <a:r>
              <a:rPr sz="1875" b="1">
                <a:solidFill>
                  <a:srgbClr val="F7F5F0"/>
                </a:solidFill>
              </a:rPr>
              <a:t>while you are trying to ship the actual product.</a:t>
            </a:r>
          </a:p>
        </p:txBody>
      </p:sp>
    </p:spTree>
    <p:extLst>
      <p:ext uri="{BB962C8B-B14F-4D97-AF65-F5344CB8AC3E}">
        <p14:creationId xmlns:p14="http://schemas.microsoft.com/office/powerpoint/2010/main" val="1140039825"/>
      </p:ext>
    </p:extLst>
  </p:cSld>
</p:sld>
</file>

<file path=ppt/slides/slide4.xml><?xml version="1.0" encoding="utf-8"?>
<p:sld xmlns:p="http://schemas.openxmlformats.org/presentationml/2006/main">
  <p:cSld>
    <p:bg>
      <p:bgPr>
        <a:solidFill xmlns:a="http://schemas.openxmlformats.org/drawingml/2006/main">
          <a:srgbClr val="D7FF3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6CD884-3934-465B-AE9B-70BACD855272}"/>
              </a:ext>
            </a:extLst>
          </p:cNvPr>
          <p:cNvSpPr>
            <a:spLocks xmlns:a="http://schemas.openxmlformats.org/drawingml/2006/main" noGrp="1"/>
          </p:cNvSpPr>
          <p:nvPr/>
        </p:nvSpPr>
        <p:spPr>
          <a:xfrm xmlns:a="http://schemas.openxmlformats.org/drawingml/2006/main">
            <a:off x="609600" y="400050"/>
            <a:ext cx="266700" cy="266700"/>
          </a:xfrm>
          <a:prstGeom xmlns:a="http://schemas.openxmlformats.org/drawingml/2006/main" prst="roundRect">
            <a:avLst>
              <a:gd name="adj" fmla="val 25000"/>
            </a:avLst>
          </a:prstGeom>
          <a:solidFill xmlns:a="http://schemas.openxmlformats.org/drawingml/2006/main">
            <a:srgbClr val="101010"/>
          </a:solidFill>
          <a:ln xmlns:a="http://schemas.openxmlformats.org/drawingml/2006/main" w="0">
            <a:solidFill>
              <a:srgbClr val="101010"/>
            </a:solidFill>
            <a:prstDash val="solid"/>
          </a:ln>
        </p:spPr>
      </p:sp>
      <p:sp>
        <p:nvSpPr>
          <p:cNvPr id="2" name="">
            <a:extLst xmlns:a="http://schemas.openxmlformats.org/drawingml/2006/main">
              <a:ext uri="{FF2B5EF4-FFF2-40B4-BE49-F238E27FC236}">
                <a16:creationId xmlns:a16="http://schemas.microsoft.com/office/drawing/2014/main" id="{4E7B420B-63A7-4E8F-A3E3-870E91EB18F5}"/>
              </a:ext>
            </a:extLst>
          </p:cNvPr>
          <p:cNvSpPr>
            <a:spLocks xmlns:a="http://schemas.openxmlformats.org/drawingml/2006/main" noGrp="1"/>
          </p:cNvSpPr>
          <p:nvPr/>
        </p:nvSpPr>
        <p:spPr>
          <a:xfrm xmlns:a="http://schemas.openxmlformats.org/drawingml/2006/main">
            <a:off x="609600" y="42862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7F5F0"/>
                </a:solidFill>
              </a:defRPr>
            </a:pPr>
            <a:r>
              <a:rPr sz="975" b="1">
                <a:solidFill>
                  <a:srgbClr val="F7F5F0"/>
                </a:solidFill>
              </a:rPr>
              <a:t>W</a:t>
            </a:r>
          </a:p>
        </p:txBody>
      </p:sp>
      <p:sp>
        <p:nvSpPr>
          <p:cNvPr id="3" name="">
            <a:extLst xmlns:a="http://schemas.openxmlformats.org/drawingml/2006/main">
              <a:ext uri="{FF2B5EF4-FFF2-40B4-BE49-F238E27FC236}">
                <a16:creationId xmlns:a16="http://schemas.microsoft.com/office/drawing/2014/main" id="{EAE185FC-BA7A-464A-ACCC-4B27D7A8F8BA}"/>
              </a:ext>
            </a:extLst>
          </p:cNvPr>
          <p:cNvSpPr>
            <a:spLocks xmlns:a="http://schemas.openxmlformats.org/drawingml/2006/main" noGrp="1"/>
          </p:cNvSpPr>
          <p:nvPr/>
        </p:nvSpPr>
        <p:spPr>
          <a:xfrm xmlns:a="http://schemas.openxmlformats.org/drawingml/2006/main">
            <a:off x="990600" y="4095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01010"/>
                </a:solidFill>
              </a:defRPr>
            </a:pPr>
            <a:r>
              <a:rPr sz="1350" b="1">
                <a:solidFill>
                  <a:srgbClr val="101010"/>
                </a:solidFill>
              </a:rPr>
              <a:t>Workprint</a:t>
            </a:r>
          </a:p>
        </p:txBody>
      </p:sp>
      <p:sp>
        <p:nvSpPr>
          <p:cNvPr id="4" name="">
            <a:extLst xmlns:a="http://schemas.openxmlformats.org/drawingml/2006/main">
              <a:ext uri="{FF2B5EF4-FFF2-40B4-BE49-F238E27FC236}">
                <a16:creationId xmlns:a16="http://schemas.microsoft.com/office/drawing/2014/main" id="{ED333387-9D0B-4843-826B-2FC2B9C30278}"/>
              </a:ext>
            </a:extLst>
          </p:cNvPr>
          <p:cNvSpPr>
            <a:spLocks xmlns:a="http://schemas.openxmlformats.org/drawingml/2006/main" noGrp="1"/>
          </p:cNvSpPr>
          <p:nvPr/>
        </p:nvSpPr>
        <p:spPr>
          <a:xfrm xmlns:a="http://schemas.openxmlformats.org/drawingml/2006/main">
            <a:off x="647700" y="1447800"/>
            <a:ext cx="7953375"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575" b="1">
                <a:solidFill>
                  <a:srgbClr val="101010"/>
                </a:solidFill>
              </a:defRPr>
            </a:pPr>
            <a:r>
              <a:rPr sz="4575" b="1">
                <a:solidFill>
                  <a:srgbClr val="101010"/>
                </a:solidFill>
              </a:rPr>
              <a:t>Today, every</a:t>
            </a:r>
          </a:p>
          <a:p xmlns:a="http://schemas.openxmlformats.org/drawingml/2006/main">
            <a:pPr algn="l">
              <a:defRPr sz="4575" b="1">
                <a:solidFill>
                  <a:srgbClr val="101010"/>
                </a:solidFill>
              </a:defRPr>
            </a:pPr>
            <a:r>
              <a:rPr sz="4575" b="1">
                <a:solidFill>
                  <a:srgbClr val="101010"/>
                </a:solidFill>
              </a:rPr>
              <a:t>developer gets a</a:t>
            </a:r>
          </a:p>
          <a:p xmlns:a="http://schemas.openxmlformats.org/drawingml/2006/main">
            <a:pPr algn="l">
              <a:defRPr sz="4575" b="1">
                <a:solidFill>
                  <a:srgbClr val="101010"/>
                </a:solidFill>
              </a:defRPr>
            </a:pPr>
            <a:r>
              <a:rPr sz="4575" b="1">
                <a:solidFill>
                  <a:srgbClr val="101010"/>
                </a:solidFill>
              </a:rPr>
              <a:t>communications team.</a:t>
            </a:r>
          </a:p>
        </p:txBody>
      </p:sp>
      <p:sp>
        <p:nvSpPr>
          <p:cNvPr id="5" name="">
            <a:extLst xmlns:a="http://schemas.openxmlformats.org/drawingml/2006/main">
              <a:ext uri="{FF2B5EF4-FFF2-40B4-BE49-F238E27FC236}">
                <a16:creationId xmlns:a16="http://schemas.microsoft.com/office/drawing/2014/main" id="{BABFDAFA-B8FE-42EA-BE8E-098399B42135}"/>
              </a:ext>
            </a:extLst>
          </p:cNvPr>
          <p:cNvSpPr>
            <a:spLocks xmlns:a="http://schemas.openxmlformats.org/drawingml/2006/main" noGrp="1"/>
          </p:cNvSpPr>
          <p:nvPr/>
        </p:nvSpPr>
        <p:spPr>
          <a:xfrm xmlns:a="http://schemas.openxmlformats.org/drawingml/2006/main">
            <a:off x="647700" y="46005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01010"/>
                </a:solidFill>
              </a:defRPr>
            </a:pPr>
            <a:r>
              <a:rPr sz="2325" b="1">
                <a:solidFill>
                  <a:srgbClr val="101010"/>
                </a:solidFill>
              </a:rPr>
              <a:t>Workprint</a:t>
            </a:r>
          </a:p>
        </p:txBody>
      </p:sp>
      <p:sp>
        <p:nvSpPr>
          <p:cNvPr id="6" name="">
            <a:extLst xmlns:a="http://schemas.openxmlformats.org/drawingml/2006/main">
              <a:ext uri="{FF2B5EF4-FFF2-40B4-BE49-F238E27FC236}">
                <a16:creationId xmlns:a16="http://schemas.microsoft.com/office/drawing/2014/main" id="{639EE024-1056-429B-B930-579919654E73}"/>
              </a:ext>
            </a:extLst>
          </p:cNvPr>
          <p:cNvSpPr>
            <a:spLocks xmlns:a="http://schemas.openxmlformats.org/drawingml/2006/main" noGrp="1"/>
          </p:cNvSpPr>
          <p:nvPr/>
        </p:nvSpPr>
        <p:spPr>
          <a:xfrm xmlns:a="http://schemas.openxmlformats.org/drawingml/2006/main">
            <a:off x="647700" y="5095875"/>
            <a:ext cx="561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101010"/>
                </a:solidFill>
              </a:defRPr>
            </a:pPr>
            <a:r>
              <a:rPr sz="1800" b="0">
                <a:solidFill>
                  <a:srgbClr val="101010"/>
                </a:solidFill>
              </a:rPr>
              <a:t>Your AI communications team for building in public.</a:t>
            </a:r>
          </a:p>
        </p:txBody>
      </p:sp>
      <p:sp>
        <p:nvSpPr>
          <p:cNvPr id="7" name="">
            <a:extLst xmlns:a="http://schemas.openxmlformats.org/drawingml/2006/main">
              <a:ext uri="{FF2B5EF4-FFF2-40B4-BE49-F238E27FC236}">
                <a16:creationId xmlns:a16="http://schemas.microsoft.com/office/drawing/2014/main" id="{7DC181D8-B392-478B-9064-802EE1602FD7}"/>
              </a:ext>
            </a:extLst>
          </p:cNvPr>
          <p:cNvSpPr>
            <a:spLocks xmlns:a="http://schemas.openxmlformats.org/drawingml/2006/main" noGrp="1"/>
          </p:cNvSpPr>
          <p:nvPr/>
        </p:nvSpPr>
        <p:spPr>
          <a:xfrm xmlns:a="http://schemas.openxmlformats.org/drawingml/2006/main">
            <a:off x="9353550" y="1847850"/>
            <a:ext cx="1638300" cy="163830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0">
            <a:solidFill>
              <a:srgbClr val="101010"/>
            </a:solidFill>
            <a:prstDash val="solid"/>
          </a:ln>
        </p:spPr>
      </p:sp>
      <p:sp>
        <p:nvSpPr>
          <p:cNvPr id="8" name="">
            <a:extLst xmlns:a="http://schemas.openxmlformats.org/drawingml/2006/main">
              <a:ext uri="{FF2B5EF4-FFF2-40B4-BE49-F238E27FC236}">
                <a16:creationId xmlns:a16="http://schemas.microsoft.com/office/drawing/2014/main" id="{522131C6-1BA9-48ED-A9E0-4AB9FBEE67AF}"/>
              </a:ext>
            </a:extLst>
          </p:cNvPr>
          <p:cNvSpPr>
            <a:spLocks xmlns:a="http://schemas.openxmlformats.org/drawingml/2006/main" noGrp="1"/>
          </p:cNvSpPr>
          <p:nvPr/>
        </p:nvSpPr>
        <p:spPr>
          <a:xfrm xmlns:a="http://schemas.openxmlformats.org/drawingml/2006/main">
            <a:off x="9353550" y="2247900"/>
            <a:ext cx="16383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5700" b="1">
                <a:solidFill>
                  <a:srgbClr val="D7FF38"/>
                </a:solidFill>
              </a:defRPr>
            </a:pPr>
            <a:r>
              <a:rPr sz="5700" b="1">
                <a:solidFill>
                  <a:srgbClr val="D7FF38"/>
                </a:solidFill>
              </a:rPr>
              <a:t>W</a:t>
            </a:r>
          </a:p>
        </p:txBody>
      </p:sp>
    </p:spTree>
    <p:extLst>
      <p:ext uri="{BB962C8B-B14F-4D97-AF65-F5344CB8AC3E}">
        <p14:creationId xmlns:p14="http://schemas.microsoft.com/office/powerpoint/2010/main" val="1815175668"/>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A37DAAF-3A66-4446-A454-125D58B18CEA}"/>
              </a:ext>
            </a:extLst>
          </p:cNvPr>
          <p:cNvSpPr>
            <a:spLocks xmlns:a="http://schemas.openxmlformats.org/drawingml/2006/main" noGrp="1"/>
          </p:cNvSpPr>
          <p:nvPr/>
        </p:nvSpPr>
        <p:spPr>
          <a:xfrm xmlns:a="http://schemas.openxmlformats.org/drawingml/2006/main">
            <a:off x="609600" y="400050"/>
            <a:ext cx="266700" cy="266700"/>
          </a:xfrm>
          <a:prstGeom xmlns:a="http://schemas.openxmlformats.org/drawingml/2006/main" prst="roundRect">
            <a:avLst>
              <a:gd name="adj" fmla="val 25000"/>
            </a:avLst>
          </a:prstGeom>
          <a:solidFill xmlns:a="http://schemas.openxmlformats.org/drawingml/2006/main">
            <a:srgbClr val="101010"/>
          </a:solidFill>
          <a:ln xmlns:a="http://schemas.openxmlformats.org/drawingml/2006/main" w="0">
            <a:solidFill>
              <a:srgbClr val="101010"/>
            </a:solidFill>
            <a:prstDash val="solid"/>
          </a:ln>
        </p:spPr>
      </p:sp>
      <p:sp>
        <p:nvSpPr>
          <p:cNvPr id="2" name="">
            <a:extLst xmlns:a="http://schemas.openxmlformats.org/drawingml/2006/main">
              <a:ext uri="{FF2B5EF4-FFF2-40B4-BE49-F238E27FC236}">
                <a16:creationId xmlns:a16="http://schemas.microsoft.com/office/drawing/2014/main" id="{A1008D7A-FBA5-4913-8E36-9D2E34C3FACD}"/>
              </a:ext>
            </a:extLst>
          </p:cNvPr>
          <p:cNvSpPr>
            <a:spLocks xmlns:a="http://schemas.openxmlformats.org/drawingml/2006/main" noGrp="1"/>
          </p:cNvSpPr>
          <p:nvPr/>
        </p:nvSpPr>
        <p:spPr>
          <a:xfrm xmlns:a="http://schemas.openxmlformats.org/drawingml/2006/main">
            <a:off x="609600" y="42862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F7F5F0"/>
                </a:solidFill>
              </a:defRPr>
            </a:pPr>
            <a:r>
              <a:rPr sz="975" b="1">
                <a:solidFill>
                  <a:srgbClr val="F7F5F0"/>
                </a:solidFill>
              </a:rPr>
              <a:t>W</a:t>
            </a:r>
          </a:p>
        </p:txBody>
      </p:sp>
      <p:sp>
        <p:nvSpPr>
          <p:cNvPr id="3" name="">
            <a:extLst xmlns:a="http://schemas.openxmlformats.org/drawingml/2006/main">
              <a:ext uri="{FF2B5EF4-FFF2-40B4-BE49-F238E27FC236}">
                <a16:creationId xmlns:a16="http://schemas.microsoft.com/office/drawing/2014/main" id="{91935B41-18EA-46B0-9F7C-31C68D737417}"/>
              </a:ext>
            </a:extLst>
          </p:cNvPr>
          <p:cNvSpPr>
            <a:spLocks xmlns:a="http://schemas.openxmlformats.org/drawingml/2006/main" noGrp="1"/>
          </p:cNvSpPr>
          <p:nvPr/>
        </p:nvSpPr>
        <p:spPr>
          <a:xfrm xmlns:a="http://schemas.openxmlformats.org/drawingml/2006/main">
            <a:off x="990600" y="4095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01010"/>
                </a:solidFill>
              </a:defRPr>
            </a:pPr>
            <a:r>
              <a:rPr sz="1350" b="1">
                <a:solidFill>
                  <a:srgbClr val="101010"/>
                </a:solidFill>
              </a:rPr>
              <a:t>Workprint</a:t>
            </a:r>
          </a:p>
        </p:txBody>
      </p:sp>
      <p:sp>
        <p:nvSpPr>
          <p:cNvPr id="4" name="">
            <a:extLst xmlns:a="http://schemas.openxmlformats.org/drawingml/2006/main">
              <a:ext uri="{FF2B5EF4-FFF2-40B4-BE49-F238E27FC236}">
                <a16:creationId xmlns:a16="http://schemas.microsoft.com/office/drawing/2014/main" id="{9F68BAFB-66BD-4105-A377-4927E9FF0E6A}"/>
              </a:ext>
            </a:extLst>
          </p:cNvPr>
          <p:cNvSpPr>
            <a:spLocks xmlns:a="http://schemas.openxmlformats.org/drawingml/2006/main" noGrp="1"/>
          </p:cNvSpPr>
          <p:nvPr/>
        </p:nvSpPr>
        <p:spPr>
          <a:xfrm xmlns:a="http://schemas.openxmlformats.org/drawingml/2006/main">
            <a:off x="647700" y="1066800"/>
            <a:ext cx="5429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825" b="1">
                <a:solidFill>
                  <a:srgbClr val="101010"/>
                </a:solidFill>
              </a:defRPr>
            </a:pPr>
            <a:r>
              <a:rPr sz="3825" b="1">
                <a:solidFill>
                  <a:srgbClr val="101010"/>
                </a:solidFill>
              </a:rPr>
              <a:t>It finds the story</a:t>
            </a:r>
          </a:p>
          <a:p xmlns:a="http://schemas.openxmlformats.org/drawingml/2006/main">
            <a:pPr algn="l">
              <a:defRPr sz="3825" b="1">
                <a:solidFill>
                  <a:srgbClr val="101010"/>
                </a:solidFill>
              </a:defRPr>
            </a:pPr>
            <a:r>
              <a:rPr sz="3825" b="1">
                <a:solidFill>
                  <a:srgbClr val="101010"/>
                </a:solidFill>
              </a:rPr>
              <a:t>hiding in the work.</a:t>
            </a:r>
          </a:p>
        </p:txBody>
      </p:sp>
      <p:sp>
        <p:nvSpPr>
          <p:cNvPr id="5" name="">
            <a:extLst xmlns:a="http://schemas.openxmlformats.org/drawingml/2006/main">
              <a:ext uri="{FF2B5EF4-FFF2-40B4-BE49-F238E27FC236}">
                <a16:creationId xmlns:a16="http://schemas.microsoft.com/office/drawing/2014/main" id="{109C886D-FFB8-4F30-B6FF-482704686B0A}"/>
              </a:ext>
            </a:extLst>
          </p:cNvPr>
          <p:cNvSpPr>
            <a:spLocks xmlns:a="http://schemas.openxmlformats.org/drawingml/2006/main" noGrp="1"/>
          </p:cNvSpPr>
          <p:nvPr/>
        </p:nvSpPr>
        <p:spPr>
          <a:xfrm xmlns:a="http://schemas.openxmlformats.org/drawingml/2006/main">
            <a:off x="647700" y="25717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77746D"/>
                </a:solidFill>
              </a:defRPr>
            </a:pPr>
            <a:r>
              <a:rPr sz="1350" b="1">
                <a:solidFill>
                  <a:srgbClr val="77746D"/>
                </a:solidFill>
              </a:rPr>
              <a:t>GitHub history  ·  Codex sessions  ·  progress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31826b86ef2455b"/>
          <a:srcRect xmlns:a="http://schemas.openxmlformats.org/drawingml/2006/main" l="16567" t="0" r="16567" b="0"/>
          <a:stretch xmlns:a="http://schemas.openxmlformats.org/drawingml/2006/main">
            <a:fillRect l="0" t="0" r="0" b="0"/>
          </a:stretch>
        </p:blipFill>
        <p:spPr>
          <a:xfrm xmlns:a="http://schemas.openxmlformats.org/drawingml/2006/main">
            <a:off x="6438900" y="876300"/>
            <a:ext cx="5105400" cy="4772025"/>
          </a:xfrm>
          <a:prstGeom xmlns:a="http://schemas.openxmlformats.org/drawingml/2006/main" prst="roundRect">
            <a:avLst>
              <a:gd name="adj" fmla="val 2395"/>
            </a:avLst>
          </a:prstGeom>
        </p:spPr>
      </p:pic>
      <p:sp>
        <p:nvSpPr>
          <p:cNvPr id="7" name="">
            <a:extLst xmlns:a="http://schemas.openxmlformats.org/drawingml/2006/main">
              <a:ext uri="{FF2B5EF4-FFF2-40B4-BE49-F238E27FC236}">
                <a16:creationId xmlns:a16="http://schemas.microsoft.com/office/drawing/2014/main" id="{93B80243-4604-46C3-A19F-46BB79A7F5F4}"/>
              </a:ext>
            </a:extLst>
          </p:cNvPr>
          <p:cNvSpPr>
            <a:spLocks xmlns:a="http://schemas.openxmlformats.org/drawingml/2006/main" noGrp="1"/>
          </p:cNvSpPr>
          <p:nvPr/>
        </p:nvSpPr>
        <p:spPr>
          <a:xfrm xmlns:a="http://schemas.openxmlformats.org/drawingml/2006/main">
            <a:off x="647700" y="3667125"/>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77746D"/>
                </a:solidFill>
              </a:defRPr>
            </a:pPr>
            <a:r>
              <a:rPr sz="1650" b="0">
                <a:solidFill>
                  <a:srgbClr val="77746D"/>
                </a:solidFill>
              </a:rPr>
              <a:t>Not ‘we added browser automation.’</a:t>
            </a:r>
          </a:p>
        </p:txBody>
      </p:sp>
      <p:sp>
        <p:nvSpPr>
          <p:cNvPr id="8" name="">
            <a:extLst xmlns:a="http://schemas.openxmlformats.org/drawingml/2006/main">
              <a:ext uri="{FF2B5EF4-FFF2-40B4-BE49-F238E27FC236}">
                <a16:creationId xmlns:a16="http://schemas.microsoft.com/office/drawing/2014/main" id="{23919CCB-302B-4CE0-BD88-1FE094921494}"/>
              </a:ext>
            </a:extLst>
          </p:cNvPr>
          <p:cNvSpPr>
            <a:spLocks xmlns:a="http://schemas.openxmlformats.org/drawingml/2006/main" noGrp="1"/>
          </p:cNvSpPr>
          <p:nvPr/>
        </p:nvSpPr>
        <p:spPr>
          <a:xfrm xmlns:a="http://schemas.openxmlformats.org/drawingml/2006/main">
            <a:off x="647700" y="4114800"/>
            <a:ext cx="5095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01010"/>
                </a:solidFill>
              </a:defRPr>
            </a:pPr>
            <a:r>
              <a:rPr sz="2175" b="1">
                <a:solidFill>
                  <a:srgbClr val="101010"/>
                </a:solidFill>
              </a:rPr>
              <a:t>“AI assistants look intelligent</a:t>
            </a:r>
          </a:p>
          <a:p xmlns:a="http://schemas.openxmlformats.org/drawingml/2006/main">
            <a:pPr algn="l">
              <a:defRPr sz="2175" b="1">
                <a:solidFill>
                  <a:srgbClr val="101010"/>
                </a:solidFill>
              </a:defRPr>
            </a:pPr>
            <a:r>
              <a:rPr sz="2175" b="1">
                <a:solidFill>
                  <a:srgbClr val="101010"/>
                </a:solidFill>
              </a:rPr>
              <a:t>until you ask them to complete</a:t>
            </a:r>
          </a:p>
          <a:p xmlns:a="http://schemas.openxmlformats.org/drawingml/2006/main">
            <a:pPr algn="l">
              <a:defRPr sz="2175" b="1">
                <a:solidFill>
                  <a:srgbClr val="101010"/>
                </a:solidFill>
              </a:defRPr>
            </a:pPr>
            <a:r>
              <a:rPr sz="2175" b="1">
                <a:solidFill>
                  <a:srgbClr val="101010"/>
                </a:solidFill>
              </a:rPr>
              <a:t>an ordinary, messy task.”</a:t>
            </a:r>
          </a:p>
        </p:txBody>
      </p:sp>
      <p:sp>
        <p:nvSpPr>
          <p:cNvPr id="9" name="">
            <a:extLst xmlns:a="http://schemas.openxmlformats.org/drawingml/2006/main">
              <a:ext uri="{FF2B5EF4-FFF2-40B4-BE49-F238E27FC236}">
                <a16:creationId xmlns:a16="http://schemas.microsoft.com/office/drawing/2014/main" id="{BAED18D4-F1C3-4DCE-8488-4A60087E9479}"/>
              </a:ext>
            </a:extLst>
          </p:cNvPr>
          <p:cNvSpPr>
            <a:spLocks xmlns:a="http://schemas.openxmlformats.org/drawingml/2006/main" noGrp="1"/>
          </p:cNvSpPr>
          <p:nvPr/>
        </p:nvSpPr>
        <p:spPr>
          <a:xfrm xmlns:a="http://schemas.openxmlformats.org/drawingml/2006/main">
            <a:off x="647700" y="59055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77746D"/>
                </a:solidFill>
              </a:defRPr>
            </a:pPr>
            <a:r>
              <a:rPr sz="1275" b="0">
                <a:solidFill>
                  <a:srgbClr val="77746D"/>
                </a:solidFill>
              </a:rPr>
              <a:t>A story people care about—already grounded in the work.</a:t>
            </a:r>
          </a:p>
        </p:txBody>
      </p:sp>
    </p:spTree>
    <p:extLst>
      <p:ext uri="{BB962C8B-B14F-4D97-AF65-F5344CB8AC3E}">
        <p14:creationId xmlns:p14="http://schemas.microsoft.com/office/powerpoint/2010/main" val="1597613025"/>
      </p:ext>
    </p:extLst>
  </p:cSld>
</p:sld>
</file>

<file path=ppt/slides/slide6.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E2A223E-DDC7-4434-BFF0-49F60274BF10}"/>
              </a:ext>
            </a:extLst>
          </p:cNvPr>
          <p:cNvSpPr>
            <a:spLocks xmlns:a="http://schemas.openxmlformats.org/drawingml/2006/main" noGrp="1"/>
          </p:cNvSpPr>
          <p:nvPr/>
        </p:nvSpPr>
        <p:spPr>
          <a:xfrm xmlns:a="http://schemas.openxmlformats.org/drawingml/2006/main">
            <a:off x="609600" y="400050"/>
            <a:ext cx="266700" cy="2667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7982D4B3-F751-4BC6-853A-4F9016DC1F89}"/>
              </a:ext>
            </a:extLst>
          </p:cNvPr>
          <p:cNvSpPr>
            <a:spLocks xmlns:a="http://schemas.openxmlformats.org/drawingml/2006/main" noGrp="1"/>
          </p:cNvSpPr>
          <p:nvPr/>
        </p:nvSpPr>
        <p:spPr>
          <a:xfrm xmlns:a="http://schemas.openxmlformats.org/drawingml/2006/main">
            <a:off x="609600" y="428625"/>
            <a:ext cx="266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1">
                <a:solidFill>
                  <a:srgbClr val="101010"/>
                </a:solidFill>
              </a:defRPr>
            </a:pPr>
            <a:r>
              <a:rPr sz="975" b="1">
                <a:solidFill>
                  <a:srgbClr val="101010"/>
                </a:solidFill>
              </a:rPr>
              <a:t>W</a:t>
            </a:r>
          </a:p>
        </p:txBody>
      </p:sp>
      <p:sp>
        <p:nvSpPr>
          <p:cNvPr id="3" name="">
            <a:extLst xmlns:a="http://schemas.openxmlformats.org/drawingml/2006/main">
              <a:ext uri="{FF2B5EF4-FFF2-40B4-BE49-F238E27FC236}">
                <a16:creationId xmlns:a16="http://schemas.microsoft.com/office/drawing/2014/main" id="{8ADE8A85-757E-4C93-8B07-D43E5C04DD20}"/>
              </a:ext>
            </a:extLst>
          </p:cNvPr>
          <p:cNvSpPr>
            <a:spLocks xmlns:a="http://schemas.openxmlformats.org/drawingml/2006/main" noGrp="1"/>
          </p:cNvSpPr>
          <p:nvPr/>
        </p:nvSpPr>
        <p:spPr>
          <a:xfrm xmlns:a="http://schemas.openxmlformats.org/drawingml/2006/main">
            <a:off x="990600" y="4095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7F5F0"/>
                </a:solidFill>
              </a:defRPr>
            </a:pPr>
            <a:r>
              <a:rPr sz="1350" b="1">
                <a:solidFill>
                  <a:srgbClr val="F7F5F0"/>
                </a:solidFill>
              </a:rPr>
              <a:t>Workprint</a:t>
            </a:r>
          </a:p>
        </p:txBody>
      </p:sp>
      <p:sp>
        <p:nvSpPr>
          <p:cNvPr id="4" name="">
            <a:extLst xmlns:a="http://schemas.openxmlformats.org/drawingml/2006/main">
              <a:ext uri="{FF2B5EF4-FFF2-40B4-BE49-F238E27FC236}">
                <a16:creationId xmlns:a16="http://schemas.microsoft.com/office/drawing/2014/main" id="{B346BC19-E223-4983-A176-9F9D3CC41E6D}"/>
              </a:ext>
            </a:extLst>
          </p:cNvPr>
          <p:cNvSpPr>
            <a:spLocks xmlns:a="http://schemas.openxmlformats.org/drawingml/2006/main" noGrp="1"/>
          </p:cNvSpPr>
          <p:nvPr/>
        </p:nvSpPr>
        <p:spPr>
          <a:xfrm xmlns:a="http://schemas.openxmlformats.org/drawingml/2006/main">
            <a:off x="647700" y="1638300"/>
            <a:ext cx="1000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75" b="1">
                <a:solidFill>
                  <a:srgbClr val="F7F5F0"/>
                </a:solidFill>
              </a:defRPr>
            </a:pPr>
            <a:r>
              <a:rPr sz="4875" b="1">
                <a:solidFill>
                  <a:srgbClr val="F7F5F0"/>
                </a:solidFill>
              </a:rPr>
              <a:t>Build the product.</a:t>
            </a:r>
          </a:p>
        </p:txBody>
      </p:sp>
      <p:sp>
        <p:nvSpPr>
          <p:cNvPr id="5" name="">
            <a:extLst xmlns:a="http://schemas.openxmlformats.org/drawingml/2006/main">
              <a:ext uri="{FF2B5EF4-FFF2-40B4-BE49-F238E27FC236}">
                <a16:creationId xmlns:a16="http://schemas.microsoft.com/office/drawing/2014/main" id="{2E3E832A-B0C6-4C8B-ACE3-DA14F908D55D}"/>
              </a:ext>
            </a:extLst>
          </p:cNvPr>
          <p:cNvSpPr>
            <a:spLocks xmlns:a="http://schemas.openxmlformats.org/drawingml/2006/main" noGrp="1"/>
          </p:cNvSpPr>
          <p:nvPr/>
        </p:nvSpPr>
        <p:spPr>
          <a:xfrm xmlns:a="http://schemas.openxmlformats.org/drawingml/2006/main">
            <a:off x="647700" y="2476500"/>
            <a:ext cx="1000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75" b="1">
                <a:solidFill>
                  <a:srgbClr val="D7FF38"/>
                </a:solidFill>
              </a:defRPr>
            </a:pPr>
            <a:r>
              <a:rPr sz="4875" b="1">
                <a:solidFill>
                  <a:srgbClr val="D7FF38"/>
                </a:solidFill>
              </a:rPr>
              <a:t>Build the audience.</a:t>
            </a:r>
          </a:p>
        </p:txBody>
      </p:sp>
      <p:sp>
        <p:nvSpPr>
          <p:cNvPr id="6" name="">
            <a:extLst xmlns:a="http://schemas.openxmlformats.org/drawingml/2006/main">
              <a:ext uri="{FF2B5EF4-FFF2-40B4-BE49-F238E27FC236}">
                <a16:creationId xmlns:a16="http://schemas.microsoft.com/office/drawing/2014/main" id="{A73DCB19-D5D2-4497-B855-6CE03DC47312}"/>
              </a:ext>
            </a:extLst>
          </p:cNvPr>
          <p:cNvSpPr>
            <a:spLocks xmlns:a="http://schemas.openxmlformats.org/drawingml/2006/main" noGrp="1"/>
          </p:cNvSpPr>
          <p:nvPr/>
        </p:nvSpPr>
        <p:spPr>
          <a:xfrm xmlns:a="http://schemas.openxmlformats.org/drawingml/2006/main">
            <a:off x="647700" y="3314700"/>
            <a:ext cx="7620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875" b="1">
                <a:solidFill>
                  <a:srgbClr val="F7F5F0"/>
                </a:solidFill>
              </a:defRPr>
            </a:pPr>
            <a:r>
              <a:rPr sz="4875" b="1">
                <a:solidFill>
                  <a:srgbClr val="F7F5F0"/>
                </a:solidFill>
              </a:rPr>
              <a:t>From the same work.</a:t>
            </a:r>
          </a:p>
        </p:txBody>
      </p:sp>
      <p:sp>
        <p:nvSpPr>
          <p:cNvPr id="7" name="">
            <a:extLst xmlns:a="http://schemas.openxmlformats.org/drawingml/2006/main">
              <a:ext uri="{FF2B5EF4-FFF2-40B4-BE49-F238E27FC236}">
                <a16:creationId xmlns:a16="http://schemas.microsoft.com/office/drawing/2014/main" id="{84C2765B-C8B0-4168-A1EA-1E5FDB71F2CC}"/>
              </a:ext>
            </a:extLst>
          </p:cNvPr>
          <p:cNvSpPr>
            <a:spLocks xmlns:a="http://schemas.openxmlformats.org/drawingml/2006/main" noGrp="1"/>
          </p:cNvSpPr>
          <p:nvPr/>
        </p:nvSpPr>
        <p:spPr>
          <a:xfrm xmlns:a="http://schemas.openxmlformats.org/drawingml/2006/main">
            <a:off x="647700" y="4762500"/>
            <a:ext cx="2286000" cy="28575"/>
          </a:xfrm>
          <a:prstGeom xmlns:a="http://schemas.openxmlformats.org/drawingml/2006/main" prst="rect">
            <a:avLst/>
          </a:prstGeom>
          <a:solidFill xmlns:a="http://schemas.openxmlformats.org/drawingml/2006/main">
            <a:srgbClr val="D7FF38"/>
          </a:solidFill>
          <a:ln xmlns:a="http://schemas.openxmlformats.org/drawingml/2006/main" w="0">
            <a:solidFill>
              <a:srgbClr val="D7FF38"/>
            </a:solidFill>
            <a:prstDash val="solid"/>
          </a:ln>
        </p:spPr>
      </p:sp>
      <p:sp>
        <p:nvSpPr>
          <p:cNvPr id="8" name="">
            <a:extLst xmlns:a="http://schemas.openxmlformats.org/drawingml/2006/main">
              <a:ext uri="{FF2B5EF4-FFF2-40B4-BE49-F238E27FC236}">
                <a16:creationId xmlns:a16="http://schemas.microsoft.com/office/drawing/2014/main" id="{23924693-7BDA-4B31-813C-9E5391B452B4}"/>
              </a:ext>
            </a:extLst>
          </p:cNvPr>
          <p:cNvSpPr>
            <a:spLocks xmlns:a="http://schemas.openxmlformats.org/drawingml/2006/main" noGrp="1"/>
          </p:cNvSpPr>
          <p:nvPr/>
        </p:nvSpPr>
        <p:spPr>
          <a:xfrm xmlns:a="http://schemas.openxmlformats.org/drawingml/2006/main">
            <a:off x="647700" y="5095875"/>
            <a:ext cx="666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BCBCB5"/>
                </a:solidFill>
              </a:defRPr>
            </a:pPr>
            <a:r>
              <a:rPr sz="1875" b="0">
                <a:solidFill>
                  <a:srgbClr val="BCBCB5"/>
                </a:solidFill>
              </a:rPr>
              <a:t>Workprint handles the archaeology and first draft.</a:t>
            </a:r>
          </a:p>
          <a:p xmlns:a="http://schemas.openxmlformats.org/drawingml/2006/main">
            <a:pPr algn="l">
              <a:defRPr sz="1875" b="0">
                <a:solidFill>
                  <a:srgbClr val="BCBCB5"/>
                </a:solidFill>
              </a:defRPr>
            </a:pPr>
            <a:r>
              <a:rPr sz="1875" b="0">
                <a:solidFill>
                  <a:srgbClr val="BCBCB5"/>
                </a:solidFill>
              </a:rPr>
              <a:t>You bring the judgment.</a:t>
            </a:r>
          </a:p>
        </p:txBody>
      </p:sp>
      <p:sp>
        <p:nvSpPr>
          <p:cNvPr id="9" name="">
            <a:extLst xmlns:a="http://schemas.openxmlformats.org/drawingml/2006/main">
              <a:ext uri="{FF2B5EF4-FFF2-40B4-BE49-F238E27FC236}">
                <a16:creationId xmlns:a16="http://schemas.microsoft.com/office/drawing/2014/main" id="{8FB0E902-E887-42E8-8C6F-CE26E4AD25D2}"/>
              </a:ext>
            </a:extLst>
          </p:cNvPr>
          <p:cNvSpPr>
            <a:spLocks xmlns:a="http://schemas.openxmlformats.org/drawingml/2006/main" noGrp="1"/>
          </p:cNvSpPr>
          <p:nvPr/>
        </p:nvSpPr>
        <p:spPr>
          <a:xfrm xmlns:a="http://schemas.openxmlformats.org/drawingml/2006/main">
            <a:off x="10001250" y="6191250"/>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1">
                <a:solidFill>
                  <a:srgbClr val="F7F5F0"/>
                </a:solidFill>
              </a:defRPr>
            </a:pPr>
            <a:r>
              <a:rPr sz="1200" b="1">
                <a:solidFill>
                  <a:srgbClr val="F7F5F0"/>
                </a:solidFill>
              </a:rPr>
              <a:t>workprint</a:t>
            </a:r>
          </a:p>
        </p:txBody>
      </p:sp>
    </p:spTree>
    <p:extLst>
      <p:ext uri="{BB962C8B-B14F-4D97-AF65-F5344CB8AC3E}">
        <p14:creationId xmlns:p14="http://schemas.microsoft.com/office/powerpoint/2010/main" val="14536324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2026-07-18T11:52:15.2350000Z</dcterms:created>
  <dcterms:modified xsi:type="dcterms:W3CDTF">2026-07-18T11:52:15.2350000Z</dcterms:modified>
</coreProperties>
</file>